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OTT Streaming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C5CE7"/>
                </a:solidFill>
                <a:latin typeface="Calibri"/>
              </a:defRPr>
            </a:pPr>
            <a:r>
              <a:t>Zero-Cost Video Storage &amp; Delivery Using YouTube's Unlisted Videos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3657600"/>
            <a:ext cx="2103120" cy="27432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A full-stack OTT platform built with Go, Flutter &amp; PostgreSQL</a:t>
            </a:r>
            <a:br/>
            <a:r>
              <a:t>that leverages YouTube as a free CDN for video hosting &amp;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5303520"/>
            <a:ext cx="1188720" cy="347472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53400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4D8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303520"/>
            <a:ext cx="1188720" cy="347472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53400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4D8"/>
                </a:solidFill>
                <a:latin typeface="Calibri"/>
              </a:defRPr>
            </a:pPr>
            <a:r>
              <a:t>Flutter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5303520"/>
            <a:ext cx="1188720" cy="347472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53400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894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5303520"/>
            <a:ext cx="1188720" cy="347472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53400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4D8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303520"/>
            <a:ext cx="1188720" cy="347472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6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53400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348"/>
                </a:solidFill>
                <a:latin typeface="Calibri"/>
              </a:defRPr>
            </a:pPr>
            <a:r>
              <a:t>YouTube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348"/>
                </a:solidFill>
                <a:latin typeface="Calibri"/>
              </a:defRPr>
            </a:pPr>
            <a:r>
              <a:t>⚠  The Problem: Video Hosting is Expensive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Traditional OTT platforms face massive infrastructure costs for video storage and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5603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6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6348"/>
                </a:solidFill>
                <a:latin typeface="Calibri"/>
              </a:defRPr>
            </a:pPr>
            <a:r>
              <a:t>$0.023/GB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AWS S3 Storage</a:t>
            </a:r>
            <a:br/>
            <a:r>
              <a:t>(per month)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03120"/>
            <a:ext cx="25603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6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6348"/>
                </a:solidFill>
                <a:latin typeface="Calibri"/>
              </a:defRPr>
            </a:pPr>
            <a:r>
              <a:t>$0.085/GB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3832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CloudFront CDN</a:t>
            </a:r>
            <a:br/>
            <a:r>
              <a:t>Data Transfer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03120"/>
            <a:ext cx="25603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6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6348"/>
                </a:solidFill>
                <a:latin typeface="Calibri"/>
              </a:defRPr>
            </a:pPr>
            <a:r>
              <a:t>$0.024/min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832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Video Transcoding</a:t>
            </a:r>
            <a:br/>
            <a:r>
              <a:t>(AWS MediaConvert)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103120"/>
            <a:ext cx="25603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6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6348"/>
                </a:solidFill>
                <a:latin typeface="Calibri"/>
              </a:defRPr>
            </a:pPr>
            <a:r>
              <a:t>~$5,000+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3832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Monthly Cost</a:t>
            </a:r>
            <a:br/>
            <a:r>
              <a:t>for 10TB 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For startups and indie developers, these costs can be a deal-breaker before the product even launches.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5303520"/>
            <a:ext cx="5760720" cy="914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53949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6348"/>
                </a:solidFill>
                <a:latin typeface="Calibri"/>
              </a:defRPr>
            </a:pPr>
            <a:r>
              <a:t>A 100-video library with 1080p content costs ~$500-$2,000/month on AWS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806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08090"/>
                </a:solidFill>
                <a:latin typeface="Calibri"/>
              </a:defRPr>
            </a:pPr>
            <a:r>
              <a:t>Storage + CDN + Transcoding + Bandwidth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894"/>
                </a:solidFill>
                <a:latin typeface="Calibri"/>
              </a:defRPr>
            </a:pPr>
            <a:r>
              <a:t>💡  The Solution: YouTube as Your Free CDN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C0"/>
                </a:solidFill>
                <a:latin typeface="Calibri"/>
              </a:defRPr>
            </a:pPr>
            <a:r>
              <a:t>Upload videos as Unlisted on YouTube → Embed them privately in your OTT app via YouTube IFrame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560320" cy="2743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2286000"/>
            <a:ext cx="457200" cy="4572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23042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Upload to YouTube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Upload your video content</a:t>
            </a:r>
            <a:br/>
            <a:r>
              <a:t>as Unlisted — it won't</a:t>
            </a:r>
            <a:br/>
            <a:r>
              <a:t>appear in search or</a:t>
            </a:r>
            <a:br/>
            <a:r>
              <a:t>YouTube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103120"/>
            <a:ext cx="2560320" cy="2743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3042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Store Video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337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The backend stores only</a:t>
            </a:r>
            <a:br/>
            <a:r>
              <a:t>the YouTube Video ID</a:t>
            </a:r>
            <a:br/>
            <a:r>
              <a:t>(11 characters) in</a:t>
            </a:r>
            <a:br/>
            <a:r>
              <a:t>PostgreSQL 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03120"/>
            <a:ext cx="2560320" cy="2743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60920" y="2286000"/>
            <a:ext cx="457200" cy="4572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3042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Embed via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337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Flutter app uses YouTube</a:t>
            </a:r>
            <a:br/>
            <a:r>
              <a:t>IFrame Player API to</a:t>
            </a:r>
            <a:br/>
            <a:r>
              <a:t>embed and play videos</a:t>
            </a:r>
            <a:br/>
            <a:r>
              <a:t>with custom controls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103120"/>
            <a:ext cx="2560320" cy="2743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95560" y="2286000"/>
            <a:ext cx="457200" cy="4572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23042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Full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337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Custom UI hides YouTube</a:t>
            </a:r>
            <a:br/>
            <a:r>
              <a:t>branding. Users see</a:t>
            </a:r>
            <a:br/>
            <a:r>
              <a:t>your brand, not YouTube.</a:t>
            </a:r>
            <a:br/>
            <a:r>
              <a:t>You control access.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5212080"/>
            <a:ext cx="7589520" cy="10058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0" y="530352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894"/>
                </a:solidFill>
                <a:latin typeface="Calibri"/>
              </a:defRPr>
            </a:pPr>
            <a:r>
              <a:t>YouTube handles: Storage • Transcoding • CDN • Adaptive Bitrate • Global 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76072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All for FREE — no API key required for embed playback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5CE7"/>
                </a:solidFill>
                <a:latin typeface="Calibri"/>
              </a:defRPr>
            </a:pPr>
            <a:r>
              <a:t>🔒  YouTube Unlisted Videos — The Secret Weapon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194560"/>
            <a:ext cx="2377440" cy="365760"/>
          </a:xfrm>
          <a:prstGeom prst="round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2128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0F1A"/>
                </a:solidFill>
                <a:latin typeface="Calibri"/>
              </a:defRPr>
            </a:pPr>
            <a:r>
              <a:t>❌ Not Suitable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90A0"/>
                </a:solidFill>
                <a:latin typeface="Calibri"/>
              </a:defRPr>
            </a:pPr>
            <a:r>
              <a:t>  ✗  Appears in YouTube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90A0"/>
                </a:solidFill>
                <a:latin typeface="Calibri"/>
              </a:defRPr>
            </a:pPr>
            <a:r>
              <a:t>  ✗  Shown in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90A0"/>
                </a:solidFill>
                <a:latin typeface="Calibri"/>
              </a:defRPr>
            </a:pPr>
            <a:r>
              <a:t>  ✗  Anyone can find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90A0"/>
                </a:solidFill>
                <a:latin typeface="Calibri"/>
              </a:defRPr>
            </a:pPr>
            <a:r>
              <a:t>  ✗  Indexed by Google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29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90A0"/>
                </a:solidFill>
                <a:latin typeface="Calibri"/>
              </a:defRPr>
            </a:pPr>
            <a:r>
              <a:t>  ✗  Visible on your channel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463040"/>
            <a:ext cx="3474720" cy="47548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Unlisted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199" y="2194560"/>
            <a:ext cx="2377440" cy="36576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199" y="22128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0F1A"/>
                </a:solidFill>
                <a:latin typeface="Calibri"/>
              </a:defRPr>
            </a:pPr>
            <a:r>
              <a:t>✅ Perfect for OTT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834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894"/>
                </a:solidFill>
                <a:latin typeface="Calibri"/>
              </a:defRPr>
            </a:pPr>
            <a:r>
              <a:t>  ✓  NOT in YouTube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894"/>
                </a:solidFill>
                <a:latin typeface="Calibri"/>
              </a:defRPr>
            </a:pPr>
            <a:r>
              <a:t>  ✓  NOT in 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894"/>
                </a:solidFill>
                <a:latin typeface="Calibri"/>
              </a:defRPr>
            </a:pPr>
            <a:r>
              <a:t>  ✓  Only accessible via direct 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44805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894"/>
                </a:solidFill>
                <a:latin typeface="Calibri"/>
              </a:defRPr>
            </a:pPr>
            <a:r>
              <a:t>  ✓  NOT indexed by Google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5029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894"/>
                </a:solidFill>
                <a:latin typeface="Calibri"/>
              </a:defRPr>
            </a:pPr>
            <a:r>
              <a:t>  ✓  Embed works perfectly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463040"/>
            <a:ext cx="3474720" cy="47548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Private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2194560"/>
            <a:ext cx="2377440" cy="365760"/>
          </a:xfrm>
          <a:prstGeom prst="round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22128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0F1A"/>
                </a:solidFill>
                <a:latin typeface="Calibri"/>
              </a:defRPr>
            </a:pPr>
            <a:r>
              <a:t>❌ Too Restrictive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834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90A0"/>
                </a:solidFill>
                <a:latin typeface="Calibri"/>
              </a:defRPr>
            </a:pPr>
            <a:r>
              <a:t>  ✗  Requires Google sign-in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90A0"/>
                </a:solidFill>
                <a:latin typeface="Calibri"/>
              </a:defRPr>
            </a:pPr>
            <a:r>
              <a:t>  ✗  Max 50 viewers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90A0"/>
                </a:solidFill>
                <a:latin typeface="Calibri"/>
              </a:defRPr>
            </a:pPr>
            <a:r>
              <a:t>  ✗  Cannot be embedded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4805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90A0"/>
                </a:solidFill>
                <a:latin typeface="Calibri"/>
              </a:defRPr>
            </a:pPr>
            <a:r>
              <a:t>  ✗  Not suitable for apps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029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90A0"/>
                </a:solidFill>
                <a:latin typeface="Calibri"/>
              </a:defRPr>
            </a:pPr>
            <a:r>
              <a:t>  ✗  Breaks IFrame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D8"/>
                </a:solidFill>
                <a:latin typeface="Calibri"/>
              </a:defRPr>
            </a:pPr>
            <a:r>
              <a:t>🏗 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743200" cy="4114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C5CE7"/>
                </a:solidFill>
                <a:latin typeface="Calibri"/>
              </a:defRPr>
            </a:pPr>
            <a:r>
              <a:t>Flutter Mobile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377440" cy="18288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Home / Browse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249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Video Player (WebView)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638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YouTube IFrame Player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02735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Search &amp; 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41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Watchlist &amp;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805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Premium Subscription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9194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User Authentication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645920"/>
            <a:ext cx="2743200" cy="4114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894"/>
                </a:solidFill>
                <a:latin typeface="Calibri"/>
              </a:defRPr>
            </a:pPr>
            <a:r>
              <a:t>Go Backend (Gin)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148840"/>
            <a:ext cx="2377440" cy="18288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40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REST API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27249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JWT 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31638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Admin Middleware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3602735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Video CRUD Handlers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4041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YouTube URL Parser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0" y="44805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User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40" y="49194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Payment Handler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1645920"/>
            <a:ext cx="2286000" cy="4114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1783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A000"/>
                </a:solidFill>
                <a:latin typeface="Calibri"/>
              </a:defRPr>
            </a:pPr>
            <a:r>
              <a:t>PostgreSQL DB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2148840"/>
            <a:ext cx="1920240" cy="18288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2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Videos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7249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Users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31638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Categories 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3602735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Watchlist 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0416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Watch 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4805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Payments Table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1645920"/>
            <a:ext cx="1828800" cy="4114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1783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6348"/>
                </a:solidFill>
                <a:latin typeface="Calibri"/>
              </a:defRPr>
            </a:pPr>
            <a:r>
              <a:t>YouTube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1280" y="2148840"/>
            <a:ext cx="1463040" cy="18288"/>
          </a:xfrm>
          <a:prstGeom prst="round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9556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Video 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27249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Transcoding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316382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CDN Delivery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602735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Thumbnail CDN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40416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• Adaptive Bitrate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3200400" y="3474720"/>
            <a:ext cx="640080" cy="228600"/>
          </a:xfrm>
          <a:prstGeom prst="rightArrow">
            <a:avLst/>
          </a:prstGeom>
          <a:solidFill>
            <a:srgbClr val="8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6583680" y="3474720"/>
            <a:ext cx="640080" cy="228600"/>
          </a:xfrm>
          <a:prstGeom prst="rightArrow">
            <a:avLst/>
          </a:prstGeom>
          <a:solidFill>
            <a:srgbClr val="8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9509760" y="3474720"/>
            <a:ext cx="640080" cy="228600"/>
          </a:xfrm>
          <a:prstGeom prst="rightArrow">
            <a:avLst/>
          </a:prstGeom>
          <a:solidFill>
            <a:srgbClr val="8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🐳  All services containerized with Docker Compose — single `docker-compose up` to deploy the entire 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Calibri"/>
              </a:defRPr>
            </a:pPr>
            <a:r>
              <a:t>💰  Cost Comparison: Traditional vs. Our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00400" cy="5486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5CE7"/>
                </a:solidFill>
                <a:latin typeface="Calibri"/>
              </a:defRPr>
            </a:pPr>
            <a:r>
              <a:t>Cost Category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371600"/>
            <a:ext cx="3657600" cy="5486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6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348"/>
                </a:solidFill>
                <a:latin typeface="Calibri"/>
              </a:defRPr>
            </a:pPr>
            <a:r>
              <a:t>Traditional OTT (AWS)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371600"/>
            <a:ext cx="3657600" cy="5486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894"/>
                </a:solidFill>
                <a:latin typeface="Calibri"/>
              </a:defRPr>
            </a:pPr>
            <a:r>
              <a:t>Our OTT (YouTube CDN)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32004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299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Video Storage (10TB)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192024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20299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6348"/>
                </a:solidFill>
                <a:latin typeface="Calibri"/>
              </a:defRPr>
            </a:pPr>
            <a:r>
              <a:t>$230/month (S3)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92024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80" y="20299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894"/>
                </a:solidFill>
                <a:latin typeface="Calibri"/>
              </a:defRPr>
            </a:pPr>
            <a:r>
              <a:t>$0 (YouTube)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468880"/>
            <a:ext cx="3200400" cy="54864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5786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CDN / Bandwidth (50TB)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2468880"/>
            <a:ext cx="3657600" cy="54864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25786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6348"/>
                </a:solidFill>
                <a:latin typeface="Calibri"/>
              </a:defRPr>
            </a:pPr>
            <a:r>
              <a:t>$4,250/month (CloudFront)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468880"/>
            <a:ext cx="3657600" cy="54864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80" y="25786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894"/>
                </a:solidFill>
                <a:latin typeface="Calibri"/>
              </a:defRPr>
            </a:pPr>
            <a:r>
              <a:t>$0 (YouTube CDN)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17520"/>
            <a:ext cx="32004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1272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Video Transcoding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301752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31272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6348"/>
                </a:solidFill>
                <a:latin typeface="Calibri"/>
              </a:defRPr>
            </a:pPr>
            <a:r>
              <a:t>$500/month (MediaConvert)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301752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31272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894"/>
                </a:solidFill>
                <a:latin typeface="Calibri"/>
              </a:defRPr>
            </a:pPr>
            <a:r>
              <a:t>$0 (YouTube auto)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566160"/>
            <a:ext cx="3200400" cy="54864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6758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Adaptive Bitrate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1920" y="3566160"/>
            <a:ext cx="3657600" cy="54864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80" y="36758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6348"/>
                </a:solidFill>
                <a:latin typeface="Calibri"/>
              </a:defRPr>
            </a:pPr>
            <a:r>
              <a:t>$200/month (MediaPackage)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566160"/>
            <a:ext cx="3657600" cy="54864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80" y="36758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894"/>
                </a:solidFill>
                <a:latin typeface="Calibri"/>
              </a:defRPr>
            </a:pPr>
            <a:r>
              <a:t>$0 (YouTube auto)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114800"/>
            <a:ext cx="32004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2245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Thumbnail CDN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31920" y="411480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69080" y="42245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6348"/>
                </a:solidFill>
                <a:latin typeface="Calibri"/>
              </a:defRPr>
            </a:pPr>
            <a:r>
              <a:t>$50/month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411480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26680" y="42245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894"/>
                </a:solidFill>
                <a:latin typeface="Calibri"/>
              </a:defRPr>
            </a:pPr>
            <a:r>
              <a:t>$0 (YouTube CDN)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663440"/>
            <a:ext cx="3200400" cy="54864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7731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Backend Server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31920" y="4663440"/>
            <a:ext cx="3657600" cy="54864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69080" y="47731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6348"/>
                </a:solidFill>
                <a:latin typeface="Calibri"/>
              </a:defRPr>
            </a:pPr>
            <a:r>
              <a:t>$50/month (EC2 / VPS)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0" y="4663440"/>
            <a:ext cx="3657600" cy="54864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26680" y="47731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894"/>
                </a:solidFill>
                <a:latin typeface="Calibri"/>
              </a:defRPr>
            </a:pPr>
            <a:r>
              <a:t>$5/month (VPS)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212080"/>
            <a:ext cx="32004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53218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31920" y="521208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69080" y="53218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6348"/>
                </a:solidFill>
                <a:latin typeface="Calibri"/>
              </a:defRPr>
            </a:pPr>
            <a:r>
              <a:t>$30/month (RDS)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89520" y="521208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26680" y="53218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894"/>
                </a:solidFill>
                <a:latin typeface="Calibri"/>
              </a:defRPr>
            </a:pPr>
            <a:r>
              <a:t>$5/month (Self-hosted)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5760720"/>
            <a:ext cx="3200400" cy="548640"/>
          </a:xfrm>
          <a:prstGeom prst="roundRect">
            <a:avLst/>
          </a:prstGeom>
          <a:solidFill>
            <a:srgbClr val="151525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8704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TOTAL (Monthly)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31920" y="5760720"/>
            <a:ext cx="3657600" cy="548640"/>
          </a:xfrm>
          <a:prstGeom prst="roundRect">
            <a:avLst/>
          </a:prstGeom>
          <a:solidFill>
            <a:srgbClr val="151525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69080" y="5870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6348"/>
                </a:solidFill>
                <a:latin typeface="Calibri"/>
              </a:defRPr>
            </a:pPr>
            <a:r>
              <a:t>~$5,310/month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89520" y="5760720"/>
            <a:ext cx="3657600" cy="548640"/>
          </a:xfrm>
          <a:prstGeom prst="roundRect">
            <a:avLst/>
          </a:prstGeom>
          <a:solidFill>
            <a:srgbClr val="151525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26680" y="5870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894"/>
                </a:solidFill>
                <a:latin typeface="Calibri"/>
              </a:defRPr>
            </a:pPr>
            <a:r>
              <a:t>~$10/month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6309359"/>
            <a:ext cx="3200400" cy="54864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6419087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TOTAL (Yearly)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931920" y="6309359"/>
            <a:ext cx="3657600" cy="54864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69080" y="6419087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6348"/>
                </a:solidFill>
                <a:latin typeface="Calibri"/>
              </a:defRPr>
            </a:pPr>
            <a:r>
              <a:t>~$63,720/year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89520" y="6309359"/>
            <a:ext cx="3657600" cy="54864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26680" y="6419087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894"/>
                </a:solidFill>
                <a:latin typeface="Calibri"/>
              </a:defRPr>
            </a:pPr>
            <a:r>
              <a:t>~$120/year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00400" y="6126480"/>
            <a:ext cx="5760720" cy="548640"/>
          </a:xfrm>
          <a:prstGeom prst="roundRect">
            <a:avLst/>
          </a:prstGeom>
          <a:solidFill>
            <a:srgbClr val="00B894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0" y="614476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Calibri"/>
              </a:defRPr>
            </a:pPr>
            <a:r>
              <a:t>⬇ 99.8% Cost Reduction  |  Save ~$63,600/year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894"/>
                </a:solidFill>
                <a:latin typeface="Calibri"/>
              </a:defRPr>
            </a:pPr>
            <a:r>
              <a:t>🎁  What YouTube Gives You for FREE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894"/>
                </a:solidFill>
                <a:latin typeface="Calibri"/>
              </a:defRPr>
            </a:pPr>
            <a:r>
              <a:t>Unlimited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Upload unlimited videos.</a:t>
            </a:r>
            <a:br/>
            <a:r>
              <a:t>No storage limits.</a:t>
            </a:r>
            <a:br/>
            <a:r>
              <a:t>No per-GB charges.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463040"/>
            <a:ext cx="34747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9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894"/>
                </a:solidFill>
                <a:latin typeface="Calibri"/>
              </a:defRPr>
            </a:pPr>
            <a:r>
              <a:t>Global CDN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148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YouTube serves from 80+</a:t>
            </a:r>
            <a:br/>
            <a:r>
              <a:t>data centers worldwide.</a:t>
            </a:r>
            <a:br/>
            <a:r>
              <a:t>Fastest possible delivery.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4747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894"/>
                </a:solidFill>
                <a:latin typeface="Calibri"/>
              </a:defRPr>
            </a:pPr>
            <a:r>
              <a:t>Auto Transcoding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48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YouTube automatically creates</a:t>
            </a:r>
            <a:br/>
            <a:r>
              <a:t>144p to 4K variants.</a:t>
            </a:r>
            <a:br/>
            <a:r>
              <a:t>No encoding pipeline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34747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894"/>
                </a:solidFill>
                <a:latin typeface="Calibri"/>
              </a:defRPr>
            </a:pPr>
            <a:r>
              <a:t>Adaptive Bitrate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Viewer's quality auto-adjusts</a:t>
            </a:r>
            <a:br/>
            <a:r>
              <a:t>based on their connection.</a:t>
            </a:r>
            <a:br/>
            <a:r>
              <a:t>Smooth playback always.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4023360"/>
            <a:ext cx="34747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39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894"/>
                </a:solidFill>
                <a:latin typeface="Calibri"/>
              </a:defRPr>
            </a:pPr>
            <a:r>
              <a:t>Thumbnail CDN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39" y="4709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Auto-generated thumbnails</a:t>
            </a:r>
            <a:br/>
            <a:r>
              <a:t>at multiple resolutions.</a:t>
            </a:r>
            <a:br/>
            <a:r>
              <a:t>img.youtube.com endpoint.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023360"/>
            <a:ext cx="34747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894"/>
                </a:solidFill>
                <a:latin typeface="Calibri"/>
              </a:defRPr>
            </a:pPr>
            <a:r>
              <a:t>99.99% Uptime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709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YouTube's infrastructure</a:t>
            </a:r>
            <a:br/>
            <a:r>
              <a:t>is one of the most reliable</a:t>
            </a:r>
            <a:br/>
            <a:r>
              <a:t>in the world.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5CE7"/>
                </a:solidFill>
                <a:latin typeface="Calibri"/>
              </a:defRPr>
            </a:pPr>
            <a:r>
              <a:t>⚙  How It Works in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  <a:latin typeface="Calibri"/>
              </a:defRPr>
            </a:pPr>
            <a:r>
              <a:t>Backend (Go) — Video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onsolas"/>
              </a:defRPr>
            </a:pPr>
            <a:r>
              <a:t>Video struct {</a:t>
            </a:r>
            <a:br/>
            <a:r>
              <a:t>    YoutubeVideoID  string   // Only stores 11-char ID</a:t>
            </a:r>
            <a:br/>
            <a:r>
              <a:t>    Title           string   // Video metadata</a:t>
            </a:r>
            <a:br/>
            <a:r>
              <a:t>    ThumbnailURL    string   // Auto: youtube CDN</a:t>
            </a:r>
            <a:br/>
            <a:r>
              <a:t>    IsPremium       bool     // Access control</a:t>
            </a:r>
            <a:br/>
            <a:r>
              <a:t>    CategoryID      uint     // Organization</a:t>
            </a:r>
            <a:br/>
            <a:r>
              <a:t>}</a:t>
            </a:r>
            <a:br/>
            <a:br/>
            <a:r>
              <a:t>Admin → Pastes YouTube URL</a:t>
            </a:r>
            <a:br/>
            <a:r>
              <a:t>→ Backend extracts Video ID (regex)</a:t>
            </a:r>
            <a:br/>
            <a:r>
              <a:t>→ Stores ID + metadata in PostgreSQL</a:t>
            </a:r>
            <a:br/>
            <a:r>
              <a:t>→ Thumbnail auto-generated from YouTube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894"/>
                </a:solidFill>
                <a:latin typeface="Calibri"/>
              </a:defRPr>
            </a:pPr>
            <a:r>
              <a:t>Frontend (Flutter) — Video 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onsolas"/>
              </a:defRPr>
            </a:pPr>
            <a:r>
              <a:t>InAppWebView loads YouTube IFrame API:</a:t>
            </a:r>
            <a:br/>
            <a:br/>
            <a:r>
              <a:t>player = new YT.Player('player', {</a:t>
            </a:r>
            <a:br/>
            <a:r>
              <a:t>    videoId: '&lt;youtube_video_id&gt;',</a:t>
            </a:r>
            <a:br/>
            <a:r>
              <a:t>    playerVars: {</a:t>
            </a:r>
            <a:br/>
            <a:r>
              <a:t>        autoplay: 1,</a:t>
            </a:r>
            <a:br/>
            <a:r>
              <a:t>        controls: 0,        // Hide YT controls</a:t>
            </a:r>
            <a:br/>
            <a:r>
              <a:t>        modestbranding: 1,   // Minimal branding</a:t>
            </a:r>
            <a:br/>
            <a:r>
              <a:t>        rel: 0,             // No related vids</a:t>
            </a:r>
            <a:br/>
            <a:r>
              <a:t>        showinfo: 0         // No video info</a:t>
            </a:r>
            <a:br/>
            <a:r>
              <a:t>    }</a:t>
            </a:r>
            <a:br/>
            <a:r>
              <a:t>});</a:t>
            </a:r>
            <a:br/>
            <a:br/>
            <a:r>
              <a:t>CSS hides all YouTube branding</a:t>
            </a:r>
            <a:br/>
            <a:r>
              <a:t>→ User sees YOUR custom player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5CE7"/>
                </a:solidFill>
                <a:latin typeface="Calibri"/>
              </a:defRPr>
            </a:pPr>
            <a:r>
              <a:t>✨  Platform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9748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E7"/>
                </a:solidFill>
                <a:latin typeface="Calibri"/>
              </a:defRPr>
            </a:pPr>
            <a:r>
              <a:t>User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JWT-based login &amp; signup</a:t>
            </a:r>
            <a:br/>
            <a:r>
              <a:t>Secure password hashing</a:t>
            </a:r>
            <a:br/>
            <a:r>
              <a:t>Session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9748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659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894"/>
                </a:solidFill>
                <a:latin typeface="Calibri"/>
              </a:defRPr>
            </a:pPr>
            <a:r>
              <a:t>Custom Video Player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774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YouTube embed with</a:t>
            </a:r>
            <a:br/>
            <a:r>
              <a:t>custom controls overlay</a:t>
            </a:r>
            <a:br/>
            <a:r>
              <a:t>Seek bar &amp; fullscreen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9748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659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Premium Tier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3774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Free &amp; premium content</a:t>
            </a:r>
            <a:br/>
            <a:r>
              <a:t>Subscription management</a:t>
            </a:r>
            <a:br/>
            <a:r>
              <a:t>Content gating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371600"/>
            <a:ext cx="269748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9659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Content 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3774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Organize by genre</a:t>
            </a:r>
            <a:br/>
            <a:r>
              <a:t>Category-based browsing</a:t>
            </a:r>
            <a:br/>
            <a:r>
              <a:t>Admin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269748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5262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000"/>
                </a:solidFill>
                <a:latin typeface="Calibri"/>
              </a:defRPr>
            </a:pPr>
            <a:r>
              <a:t>Watchlist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3776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Save videos for later</a:t>
            </a:r>
            <a:br/>
            <a:r>
              <a:t>Persistent across sessions</a:t>
            </a:r>
            <a:br/>
            <a:r>
              <a:t>Easy add/remove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931920"/>
            <a:ext cx="269748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5262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894"/>
                </a:solidFill>
                <a:latin typeface="Calibri"/>
              </a:defRPr>
            </a:pPr>
            <a:r>
              <a:t>Continue Watching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93776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Track watch progress</a:t>
            </a:r>
            <a:br/>
            <a:r>
              <a:t>Resume from last position</a:t>
            </a:r>
            <a:br/>
            <a:r>
              <a:t>Watch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931920"/>
            <a:ext cx="269748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5262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93776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Full-text search</a:t>
            </a:r>
            <a:br/>
            <a:r>
              <a:t>Filter by category</a:t>
            </a:r>
            <a:br/>
            <a:r>
              <a:t>Real-time results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931920"/>
            <a:ext cx="269748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6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5262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348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93776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Web-based admin panel</a:t>
            </a:r>
            <a:br/>
            <a:r>
              <a:t>CRUD for all entities</a:t>
            </a:r>
            <a:br/>
            <a:r>
              <a:t>User &amp; video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Calibri"/>
              </a:defRPr>
            </a:pPr>
            <a:r>
              <a:t>📈  Scaling 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As you grow, the savings multiply exponentially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463040" cy="5029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0F1A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737360"/>
            <a:ext cx="1371600" cy="5029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18105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0F1A"/>
                </a:solidFill>
                <a:latin typeface="Calibri"/>
              </a:defRPr>
            </a:pPr>
            <a:r>
              <a:t>Videos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737360"/>
            <a:ext cx="1463040" cy="5029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8105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0F1A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737360"/>
            <a:ext cx="2194560" cy="5029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8105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0F1A"/>
                </a:solidFill>
                <a:latin typeface="Calibri"/>
              </a:defRPr>
            </a:pPr>
            <a:r>
              <a:t>Traditional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737360"/>
            <a:ext cx="1828800" cy="5029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18105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0F1A"/>
                </a:solidFill>
                <a:latin typeface="Calibri"/>
              </a:defRPr>
            </a:pPr>
            <a:r>
              <a:t>Our 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737360"/>
            <a:ext cx="2377440" cy="5029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810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0F1A"/>
                </a:solidFill>
                <a:latin typeface="Calibri"/>
              </a:defRPr>
            </a:pPr>
            <a:r>
              <a:t>You Save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331720"/>
            <a:ext cx="1463040" cy="50292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4048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Hobby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2331720"/>
            <a:ext cx="1371600" cy="50292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80" y="24048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2331720"/>
            <a:ext cx="1463040" cy="50292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4048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2331720"/>
            <a:ext cx="2194560" cy="50292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24048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348"/>
                </a:solidFill>
                <a:latin typeface="Calibri"/>
              </a:defRPr>
            </a:pPr>
            <a:r>
              <a:t>$1,500/mo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2331720"/>
            <a:ext cx="1828800" cy="50292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24048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894"/>
                </a:solidFill>
                <a:latin typeface="Calibri"/>
              </a:defRPr>
            </a:pPr>
            <a:r>
              <a:t>$10/mo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2331720"/>
            <a:ext cx="2377440" cy="50292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2404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Calibri"/>
              </a:defRPr>
            </a:pPr>
            <a:r>
              <a:t>$1,490/mo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2926080"/>
            <a:ext cx="146304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29992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Startup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4560" y="2926080"/>
            <a:ext cx="137160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40280" y="29992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500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66160" y="2926080"/>
            <a:ext cx="146304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1880" y="29992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5,000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0" y="2926080"/>
            <a:ext cx="219456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74920" y="29992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348"/>
                </a:solidFill>
                <a:latin typeface="Calibri"/>
              </a:defRPr>
            </a:pPr>
            <a:r>
              <a:t>$8,000/mo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60" y="2926080"/>
            <a:ext cx="182880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9480" y="29992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894"/>
                </a:solidFill>
                <a:latin typeface="Calibri"/>
              </a:defRPr>
            </a:pPr>
            <a:r>
              <a:t>$25/mo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2926080"/>
            <a:ext cx="237744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2999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Calibri"/>
              </a:defRPr>
            </a:pPr>
            <a:r>
              <a:t>$7,975/mo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520440"/>
            <a:ext cx="1463040" cy="50292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35935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94560" y="3520440"/>
            <a:ext cx="1371600" cy="50292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40280" y="35935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2,000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66160" y="3520440"/>
            <a:ext cx="1463040" cy="50292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11880" y="35935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50,000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0" y="3520440"/>
            <a:ext cx="2194560" cy="50292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74920" y="3593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348"/>
                </a:solidFill>
                <a:latin typeface="Calibri"/>
              </a:defRPr>
            </a:pPr>
            <a:r>
              <a:t>$25,000/mo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23760" y="3520440"/>
            <a:ext cx="1828800" cy="50292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69480" y="35935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894"/>
                </a:solidFill>
                <a:latin typeface="Calibri"/>
              </a:defRPr>
            </a:pPr>
            <a:r>
              <a:t>$50/mo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52560" y="3520440"/>
            <a:ext cx="2377440" cy="502920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98280" y="35935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Calibri"/>
              </a:defRPr>
            </a:pPr>
            <a:r>
              <a:t>$24,950/mo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114800"/>
            <a:ext cx="146304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4187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194560" y="4114800"/>
            <a:ext cx="137160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40280" y="41879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10,000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566160" y="4114800"/>
            <a:ext cx="146304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11880" y="4187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500,000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0" y="4114800"/>
            <a:ext cx="219456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74920" y="41879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348"/>
                </a:solidFill>
                <a:latin typeface="Calibri"/>
              </a:defRPr>
            </a:pPr>
            <a:r>
              <a:t>$80,000+/mo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23760" y="4114800"/>
            <a:ext cx="182880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69480" y="41879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894"/>
                </a:solidFill>
                <a:latin typeface="Calibri"/>
              </a:defRPr>
            </a:pPr>
            <a:r>
              <a:t>$100/mo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52560" y="4114800"/>
            <a:ext cx="237744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98280" y="4187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Calibri"/>
              </a:defRPr>
            </a:pPr>
            <a:r>
              <a:t>$79,900/mo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371600" y="5029200"/>
            <a:ext cx="9418320" cy="1554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54480" y="512064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Key Insight: Video costs scale linearly with traditional hosting.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54480" y="5577840"/>
            <a:ext cx="9052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With YouTube CDN, your only scaling costs are backend compute and database,</a:t>
            </a:r>
            <a:br/>
            <a:r>
              <a:t>which grow at a fraction of the rate. A 10,000-video platform costs nearly</a:t>
            </a:r>
            <a:br/>
            <a:r>
              <a:t>the same as a 50-video platform in our architecture.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D8"/>
                </a:solidFill>
                <a:latin typeface="Calibri"/>
              </a:defRPr>
            </a:pPr>
            <a:r>
              <a:t>🛠  Tech Stack Deep Dive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566160" cy="2468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371600" cy="2743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0F1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Go + 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High-performance backend</a:t>
            </a:r>
            <a:br/>
            <a:r>
              <a:t>Compiled to single binary</a:t>
            </a:r>
            <a:br/>
            <a:r>
              <a:t>Fast HTTP routing</a:t>
            </a:r>
            <a:br/>
            <a:r>
              <a:t>Minimal memory footprint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566160" cy="2468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1417320"/>
            <a:ext cx="1371600" cy="27432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173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0F1A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Flutter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402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Cross-platform mobile app</a:t>
            </a:r>
            <a:br/>
            <a:r>
              <a:t>Android &amp; iOS from one codebase</a:t>
            </a:r>
            <a:br/>
            <a:r>
              <a:t>Material Design 3</a:t>
            </a:r>
            <a:br/>
            <a:r>
              <a:t>Smooth 60fps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80160"/>
            <a:ext cx="3566160" cy="2468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1417320"/>
            <a:ext cx="1371600" cy="27432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4173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0F1A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402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ACID-compliant database</a:t>
            </a:r>
            <a:br/>
            <a:r>
              <a:t>Full-text search built-in</a:t>
            </a:r>
            <a:br/>
            <a:r>
              <a:t>GORM as ORM</a:t>
            </a:r>
            <a:br/>
            <a:r>
              <a:t>Docker volume persistence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3566160" cy="2468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160520"/>
            <a:ext cx="1371600" cy="27432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60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0F1A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834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One-command deployment</a:t>
            </a:r>
            <a:br/>
            <a:r>
              <a:t>Service isolation</a:t>
            </a:r>
            <a:br/>
            <a:r>
              <a:t>Reproducible environments</a:t>
            </a:r>
            <a:br/>
            <a:r>
              <a:t>Compose orchestration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023360"/>
            <a:ext cx="3566160" cy="2468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6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26280" y="4160520"/>
            <a:ext cx="1371600" cy="274320"/>
          </a:xfrm>
          <a:prstGeom prst="round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160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0F1A"/>
                </a:solidFill>
                <a:latin typeface="Calibri"/>
              </a:defRPr>
            </a:pPr>
            <a:r>
              <a:t>Video 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YouTube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9834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IFrame Player API</a:t>
            </a:r>
            <a:br/>
            <a:r>
              <a:t>No API key for embeds</a:t>
            </a:r>
            <a:br/>
            <a:r>
              <a:t>JavaScript bridge to Flutter</a:t>
            </a:r>
            <a:br/>
            <a:r>
              <a:t>Custom player controls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023360"/>
            <a:ext cx="3566160" cy="2468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66760" y="4160520"/>
            <a:ext cx="1371600" cy="2743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4160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0F1A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JWT Auth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9834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Stateless authentication</a:t>
            </a:r>
            <a:br/>
            <a:r>
              <a:t>Admin role middleware</a:t>
            </a:r>
            <a:br/>
            <a:r>
              <a:t>Secure token signing</a:t>
            </a:r>
            <a:br/>
            <a:r>
              <a:t>Password hashing (bcrypt)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A000"/>
                </a:solidFill>
                <a:latin typeface="Calibri"/>
              </a:defRPr>
            </a:pPr>
            <a:r>
              <a:t>⚖  Trade-offs &amp; Considerations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000"/>
                </a:solidFill>
                <a:latin typeface="Calibri"/>
              </a:defRPr>
            </a:pPr>
            <a:r>
              <a:t>⚠  Potential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▸ YouTube ToS — Ensure compliance with embedding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▸ No DRM — Content is accessible via YouTube if ID is known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▸ YouTube dependency — Platform risk if policies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▸ Upload limits — 256GB or 12 hours per video 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1207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▸ No offline downloads — Streaming only via YouTube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303520" cy="5029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94"/>
                </a:solidFill>
                <a:latin typeface="Calibri"/>
              </a:defRPr>
            </a:pPr>
            <a:r>
              <a:t>✅  Mitigations &amp; Strengths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▸ Unlisted = not discoverable, only via your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803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▸ YouTube explicitly supports embedding via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657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▸ Modular design — can swap to S3 when revenue allows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4348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▸ 256GB handles 99%+ of content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21207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▸ Perfect for MVP / early-stage / edu platforms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894"/>
                </a:solidFill>
                <a:latin typeface="Calibri"/>
              </a:defRPr>
            </a:pPr>
            <a:r>
              <a:t>🎯 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18288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894"/>
                </a:solidFill>
                <a:latin typeface="Calibri"/>
              </a:defRPr>
            </a:pPr>
            <a:r>
              <a:t>99.8%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Cost</a:t>
            </a:r>
            <a:br/>
            <a:r>
              <a:t>Reduction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463040"/>
            <a:ext cx="2560320" cy="18288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468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Video Storage</a:t>
            </a:r>
            <a:br/>
            <a:r>
              <a:t>&amp; CDN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2560320" cy="18288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4D8"/>
                </a:solidFill>
                <a:latin typeface="Calibri"/>
              </a:defRPr>
            </a:pPr>
            <a:r>
              <a:t>~$10/mo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Total</a:t>
            </a:r>
            <a:br/>
            <a:r>
              <a:t>Infra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463040"/>
            <a:ext cx="2560320" cy="18288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C5CE7"/>
                </a:solidFill>
                <a:latin typeface="Calibri"/>
              </a:defRPr>
            </a:pPr>
            <a:r>
              <a:t>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468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Scalable</a:t>
            </a:r>
            <a:br/>
            <a:r>
              <a:t>Video Library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11247120" cy="29260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94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✓  YouTube's unlisted video feature provides enterprise-grade CDN for free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451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✓  Our architecture eliminates the single largest cost for any OTT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8406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✓  Full-featured platform: Auth, Subscriptions, Watchlist, History, Admin Panel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22975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✓  Dockerized deployment — production-ready with a single command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618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✓  Perfect for startups, educators, and indie content platforms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C5CE7"/>
                </a:solidFill>
                <a:latin typeface="Calibri"/>
              </a:defRPr>
            </a:pPr>
            <a:r>
              <a:t>OTT Streaming Platform — Built Smart, Scaled Free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3931920"/>
            <a:ext cx="2103120" cy="27432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90"/>
                </a:solidFill>
                <a:latin typeface="Calibri"/>
              </a:defRPr>
            </a:pPr>
            <a:r>
              <a:t>Go • Flutter • PostgreSQL • Docker • YouTube IFrame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20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C0"/>
                </a:solidFill>
                <a:latin typeface="Calibri"/>
              </a:defRPr>
            </a:pPr>
            <a:r>
              <a:t>Questions? Let's discuss!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